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3" r:id="rId2"/>
    <p:sldId id="262" r:id="rId3"/>
    <p:sldId id="266" r:id="rId4"/>
    <p:sldId id="268" r:id="rId5"/>
    <p:sldId id="264" r:id="rId6"/>
    <p:sldId id="269" r:id="rId7"/>
    <p:sldId id="271" r:id="rId8"/>
    <p:sldId id="272" r:id="rId9"/>
    <p:sldId id="27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EB6E19"/>
    <a:srgbClr val="CC0099"/>
    <a:srgbClr val="009999"/>
    <a:srgbClr val="E6AF00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282" y="41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E6C0B-20AF-4B54-AD47-5C01CBBC4192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7E7FB-0B57-4788-8E90-107B0B0C6E84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88E59D-08E1-4415-9D8D-6F6BBF8CDA0F}" type="slidenum">
              <a:rPr lang="ru-RU" smtClean="0"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88E59D-08E1-4415-9D8D-6F6BBF8CDA0F}" type="slidenum">
              <a:rPr lang="ru-RU" smtClean="0"/>
              <a:t>2</a:t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88E59D-08E1-4415-9D8D-6F6BBF8CDA0F}" type="slidenum">
              <a:rPr lang="ru-RU" smtClean="0"/>
              <a:t>3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88E59D-08E1-4415-9D8D-6F6BBF8CDA0F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88E59D-08E1-4415-9D8D-6F6BBF8CDA0F}" type="slidenum">
              <a:rPr lang="ru-RU" smtClean="0"/>
              <a:t>5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20F-D5E0-48FD-B85A-4CC78F2B9551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412C-FA25-4D73-96E4-2718F20E06B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20F-D5E0-48FD-B85A-4CC78F2B9551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412C-FA25-4D73-96E4-2718F20E06B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20F-D5E0-48FD-B85A-4CC78F2B9551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412C-FA25-4D73-96E4-2718F20E06B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20F-D5E0-48FD-B85A-4CC78F2B9551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412C-FA25-4D73-96E4-2718F20E06B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20F-D5E0-48FD-B85A-4CC78F2B9551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412C-FA25-4D73-96E4-2718F20E06B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20F-D5E0-48FD-B85A-4CC78F2B9551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412C-FA25-4D73-96E4-2718F20E06B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20F-D5E0-48FD-B85A-4CC78F2B9551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412C-FA25-4D73-96E4-2718F20E06B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20F-D5E0-48FD-B85A-4CC78F2B9551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412C-FA25-4D73-96E4-2718F20E06B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20F-D5E0-48FD-B85A-4CC78F2B9551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412C-FA25-4D73-96E4-2718F20E06B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20F-D5E0-48FD-B85A-4CC78F2B9551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412C-FA25-4D73-96E4-2718F20E06B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3020F-D5E0-48FD-B85A-4CC78F2B9551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F412C-FA25-4D73-96E4-2718F20E06B2}" type="slidenum">
              <a:rPr lang="ru-RU" smtClean="0"/>
              <a:t>‹#›</a:t>
            </a:fld>
            <a:endParaRPr lang="ru-RU" dirty="0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3020F-D5E0-48FD-B85A-4CC78F2B9551}" type="datetimeFigureOut">
              <a:rPr lang="ru-RU" smtClean="0"/>
              <a:t>04.05.2026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F412C-FA25-4D73-96E4-2718F20E06B2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78" y="0"/>
            <a:ext cx="1441622" cy="6852049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547" y="465586"/>
            <a:ext cx="655386" cy="661186"/>
          </a:xfrm>
          <a:prstGeom prst="rect">
            <a:avLst/>
          </a:prstGeom>
        </p:spPr>
      </p:pic>
      <p:sp>
        <p:nvSpPr>
          <p:cNvPr id="4" name="Rectangle 6"/>
          <p:cNvSpPr txBox="1"/>
          <p:nvPr/>
        </p:nvSpPr>
        <p:spPr bwMode="auto">
          <a:xfrm>
            <a:off x="1684422" y="426723"/>
            <a:ext cx="8953418" cy="70004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0" anchor="b" anchorCtr="0" compatLnSpc="1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ГБПОУ «Челябинский энергетический колледж им. С.М. Кирова»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043584" y="2572767"/>
            <a:ext cx="9834987" cy="173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ru-RU" sz="2800" b="1" dirty="0">
                <a:solidFill>
                  <a:schemeClr val="accent1">
                    <a:lumMod val="75000"/>
                  </a:schemeClr>
                </a:solidFill>
              </a:rPr>
              <a:t>Курсовой проект</a:t>
            </a:r>
          </a:p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Разработка приложения для учета финансов</a:t>
            </a:r>
            <a:endParaRPr lang="ru-RU" sz="36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ru-RU" sz="3500" b="1" dirty="0">
              <a:solidFill>
                <a:srgbClr val="0070C0"/>
              </a:solidFill>
              <a:ea typeface="+mj-ea"/>
              <a:cs typeface="+mj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239484" y="4865702"/>
            <a:ext cx="7067550" cy="1262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b="1" dirty="0"/>
          </a:p>
          <a:p>
            <a:pPr marL="18415"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solidFill>
                  <a:srgbClr val="00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Разработал: Пономарева К.А</a:t>
            </a:r>
          </a:p>
          <a:p>
            <a:pPr marL="18415" algn="just">
              <a:lnSpc>
                <a:spcPct val="107000"/>
              </a:lnSpc>
              <a:spcAft>
                <a:spcPts val="8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Руководитель: </a:t>
            </a:r>
            <a:r>
              <a:rPr lang="ru-RU" sz="2400" dirty="0">
                <a:ea typeface="Calibri" panose="020F0502020204030204" pitchFamily="34" charset="0"/>
                <a:cs typeface="Times New Roman" panose="02020603050405020304" pitchFamily="18" charset="0"/>
              </a:rPr>
              <a:t>Моторина М.В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78" y="0"/>
            <a:ext cx="1441622" cy="6852049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72451" y="609868"/>
            <a:ext cx="1007014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/>
              <a:t>Цель курсового проекта </a:t>
            </a:r>
            <a:r>
              <a:rPr lang="ru-RU" sz="2200" dirty="0"/>
              <a:t>- разработка </a:t>
            </a:r>
            <a:r>
              <a:rPr lang="ru-RU" sz="2400" dirty="0"/>
              <a:t>функциональное приложение для учёта финансов с понятным инструментарием для отслеживания доходов и расходов.</a:t>
            </a:r>
          </a:p>
          <a:p>
            <a:endParaRPr lang="ru-RU" sz="2400" dirty="0"/>
          </a:p>
          <a:p>
            <a:r>
              <a:rPr lang="ru-RU" sz="2200" b="1" dirty="0"/>
              <a:t>Задачи:</a:t>
            </a:r>
          </a:p>
          <a:p>
            <a:pPr marL="342900" lvl="0" indent="-342900">
              <a:buFont typeface="Calibri" panose="020F0502020204030204" pitchFamily="34" charset="0"/>
              <a:buChar char="−"/>
            </a:pPr>
            <a:r>
              <a:rPr lang="ru-RU" sz="2200" dirty="0"/>
              <a:t>проанализировать теоретические основы и существующие подходы к учёту финансов</a:t>
            </a:r>
            <a:r>
              <a:rPr lang="en-US" sz="2200" dirty="0"/>
              <a:t>;</a:t>
            </a:r>
            <a:endParaRPr lang="ru-RU" sz="2200" dirty="0"/>
          </a:p>
          <a:p>
            <a:pPr marL="342900" lvl="0" indent="-342900">
              <a:buFont typeface="Calibri" panose="020F0502020204030204" pitchFamily="34" charset="0"/>
              <a:buChar char="−"/>
            </a:pPr>
            <a:r>
              <a:rPr lang="ru-RU" sz="2200" dirty="0"/>
              <a:t>провести сравнительный анализ аналогов и сформулировать требования к приложению</a:t>
            </a:r>
            <a:r>
              <a:rPr lang="en-US" sz="2200" dirty="0"/>
              <a:t>;</a:t>
            </a:r>
            <a:endParaRPr lang="ru-RU" sz="2200" dirty="0"/>
          </a:p>
          <a:p>
            <a:pPr marL="342900" lvl="0" indent="-342900">
              <a:buFont typeface="Calibri" panose="020F0502020204030204" pitchFamily="34" charset="0"/>
              <a:buChar char="−"/>
            </a:pPr>
            <a:r>
              <a:rPr lang="ru-RU" sz="2200" dirty="0"/>
              <a:t>спроектировать базу данных;</a:t>
            </a:r>
          </a:p>
          <a:p>
            <a:pPr marL="342900" lvl="0" indent="-342900">
              <a:buFont typeface="Calibri" panose="020F0502020204030204" pitchFamily="34" charset="0"/>
              <a:buChar char="−"/>
            </a:pPr>
            <a:r>
              <a:rPr lang="ru-RU" sz="2200" dirty="0"/>
              <a:t>разработать удобный пользовательский интерфейс;</a:t>
            </a:r>
          </a:p>
          <a:p>
            <a:pPr marL="342900" lvl="0" indent="-342900">
              <a:buFont typeface="Calibri" panose="020F0502020204030204" pitchFamily="34" charset="0"/>
              <a:buChar char="−"/>
            </a:pPr>
            <a:r>
              <a:rPr lang="ru-RU" sz="2200" dirty="0"/>
              <a:t>создать подсистему визуализации (графики, диаграммы);</a:t>
            </a:r>
          </a:p>
          <a:p>
            <a:pPr marL="342900" lvl="0" indent="-342900">
              <a:buFont typeface="Calibri" panose="020F0502020204030204" pitchFamily="34" charset="0"/>
              <a:buChar char="−"/>
            </a:pPr>
            <a:r>
              <a:rPr lang="ru-RU" sz="2200" dirty="0"/>
              <a:t>выполнить тестирование приложения.</a:t>
            </a:r>
            <a:br>
              <a:rPr lang="ru-RU" sz="2400" dirty="0"/>
            </a:br>
            <a:endParaRPr lang="ru-RU" sz="2200" dirty="0"/>
          </a:p>
          <a:p>
            <a:pPr marL="342900" lvl="0" indent="-342900">
              <a:buFont typeface="Calibri" panose="020F0502020204030204" pitchFamily="34" charset="0"/>
              <a:buChar char="−"/>
            </a:pPr>
            <a:endParaRPr lang="ru-RU" sz="2200" dirty="0"/>
          </a:p>
          <a:p>
            <a:pPr marL="342900" lvl="0" indent="-342900">
              <a:buFont typeface="Calibri" panose="020F0502020204030204" pitchFamily="34" charset="0"/>
              <a:buChar char="−"/>
            </a:pPr>
            <a:endParaRPr lang="ru-RU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78" y="0"/>
            <a:ext cx="1441622" cy="68520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811" y="430028"/>
            <a:ext cx="609437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900" b="1" dirty="0">
                <a:solidFill>
                  <a:schemeClr val="accent5"/>
                </a:solidFill>
                <a:ea typeface="+mj-ea"/>
                <a:cs typeface="Times New Roman" panose="02020603050405020304" pitchFamily="18" charset="0"/>
              </a:rPr>
              <a:t>Выбор средств разработки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200" y="1134363"/>
            <a:ext cx="609437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9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Клиентская часть: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378" y="4606485"/>
            <a:ext cx="98640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Все технологии с открытым кодом и бесплатны</a:t>
            </a:r>
            <a:endParaRPr lang="en-US" sz="29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ru-RU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Хорошо подходят для настольного приложения под </a:t>
            </a:r>
            <a:r>
              <a:rPr lang="en-US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Windows</a:t>
            </a:r>
          </a:p>
          <a:p>
            <a:r>
              <a:rPr lang="ru-RU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Быстрая разработка и простота поддержки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7827" y="1134363"/>
            <a:ext cx="609437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9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Серверная часть: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2115769"/>
            <a:ext cx="6094378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Язык – </a:t>
            </a:r>
            <a:r>
              <a:rPr lang="en-US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Python</a:t>
            </a:r>
          </a:p>
          <a:p>
            <a:r>
              <a:rPr lang="ru-RU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Фреймворк – </a:t>
            </a:r>
            <a:r>
              <a:rPr lang="en-US" sz="29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FastAPI</a:t>
            </a:r>
            <a:endParaRPr lang="en-US" sz="29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ru-RU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База данных - </a:t>
            </a:r>
            <a:r>
              <a:rPr lang="en-US" sz="29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PostgreSql</a:t>
            </a:r>
            <a:endParaRPr lang="ru-RU" sz="29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600" y="2051962"/>
            <a:ext cx="609437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Язык – </a:t>
            </a:r>
            <a:r>
              <a:rPr lang="en-US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C#</a:t>
            </a:r>
          </a:p>
          <a:p>
            <a:r>
              <a:rPr lang="ru-RU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Платформа - </a:t>
            </a:r>
            <a:r>
              <a:rPr lang="en-US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.NET</a:t>
            </a:r>
          </a:p>
          <a:p>
            <a:r>
              <a:rPr lang="ru-RU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Интерфейс – </a:t>
            </a:r>
            <a:r>
              <a:rPr lang="en-US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WPF</a:t>
            </a:r>
          </a:p>
          <a:p>
            <a:r>
              <a:rPr lang="ru-RU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Паттерн - </a:t>
            </a:r>
            <a:r>
              <a:rPr lang="en-US" sz="29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MVVM</a:t>
            </a:r>
            <a:endParaRPr lang="ru-RU" sz="29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cxnSp>
        <p:nvCxnSpPr>
          <p:cNvPr id="21" name="Прямая соединительная линия 20"/>
          <p:cNvCxnSpPr/>
          <p:nvPr/>
        </p:nvCxnSpPr>
        <p:spPr>
          <a:xfrm>
            <a:off x="387178" y="4308389"/>
            <a:ext cx="102561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78" y="0"/>
            <a:ext cx="1441622" cy="68520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13608" y="231629"/>
            <a:ext cx="609437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900" b="1" dirty="0">
                <a:solidFill>
                  <a:schemeClr val="accent1">
                    <a:lumMod val="75000"/>
                  </a:schemeClr>
                </a:solidFill>
                <a:ea typeface="+mj-ea"/>
                <a:cs typeface="Times New Roman" panose="02020603050405020304" pitchFamily="18" charset="0"/>
              </a:rPr>
              <a:t>Диаграмма прецедентов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73" y="1392709"/>
            <a:ext cx="10995970" cy="40725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78" y="0"/>
            <a:ext cx="1441622" cy="6852049"/>
          </a:xfrm>
          <a:prstGeom prst="rect">
            <a:avLst/>
          </a:prstGeom>
        </p:spPr>
      </p:pic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1137999" y="249628"/>
            <a:ext cx="9144000" cy="57221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accent5"/>
                </a:solidFill>
                <a:latin typeface="+mn-lt"/>
              </a:rPr>
              <a:t>Взаимодействие клиент-сервер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3DB0FF-6983-6821-BCB3-1D174ED47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28" y="1032803"/>
            <a:ext cx="5344271" cy="52775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325B444-11A5-D414-265A-DB122C3CA3CD}"/>
              </a:ext>
            </a:extLst>
          </p:cNvPr>
          <p:cNvSpPr/>
          <p:nvPr/>
        </p:nvSpPr>
        <p:spPr>
          <a:xfrm>
            <a:off x="6178378" y="1032803"/>
            <a:ext cx="1871602" cy="43088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2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Как работает?</a:t>
            </a:r>
            <a:endParaRPr lang="en-US" sz="2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87C83C-BFAB-30BC-6FA1-53DEFD479E0D}"/>
              </a:ext>
            </a:extLst>
          </p:cNvPr>
          <p:cNvSpPr txBox="1"/>
          <p:nvPr/>
        </p:nvSpPr>
        <p:spPr>
          <a:xfrm>
            <a:off x="6096000" y="1726163"/>
            <a:ext cx="52686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Клиент: Отправляет запросы, показывает данные                                                                    пользователю</a:t>
            </a:r>
          </a:p>
          <a:p>
            <a:br>
              <a:rPr lang="ru-RU" dirty="0"/>
            </a:br>
            <a:r>
              <a:rPr lang="ru-RU" dirty="0"/>
              <a:t>Сервер: Хранит данные в БД, проверяет права,                    отвечает на запросы</a:t>
            </a:r>
          </a:p>
          <a:p>
            <a:endParaRPr lang="ru-RU" dirty="0"/>
          </a:p>
          <a:p>
            <a:r>
              <a:rPr lang="en-US" dirty="0"/>
              <a:t>JSON</a:t>
            </a:r>
            <a:r>
              <a:rPr lang="ru-RU" dirty="0"/>
              <a:t>: Формат передачи данных </a:t>
            </a:r>
          </a:p>
          <a:p>
            <a:endParaRPr lang="ru-RU" dirty="0"/>
          </a:p>
          <a:p>
            <a:r>
              <a:rPr lang="ru-RU" dirty="0"/>
              <a:t>Токен: "Пропуск" — сервер выдает его после      входа, клиент показывает при каждом запросе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78" y="0"/>
            <a:ext cx="1441622" cy="68520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12" y="838395"/>
            <a:ext cx="9794407" cy="58015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57420" y="119662"/>
            <a:ext cx="609437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0" b="1" dirty="0">
                <a:solidFill>
                  <a:schemeClr val="accent1">
                    <a:lumMod val="75000"/>
                  </a:schemeClr>
                </a:solidFill>
                <a:ea typeface="+mj-ea"/>
                <a:cs typeface="Times New Roman" panose="02020603050405020304" pitchFamily="18" charset="0"/>
              </a:rPr>
              <a:t>ER-</a:t>
            </a:r>
            <a:r>
              <a:rPr lang="ru-RU" sz="2900" b="1" dirty="0">
                <a:solidFill>
                  <a:schemeClr val="accent1">
                    <a:lumMod val="75000"/>
                  </a:schemeClr>
                </a:solidFill>
                <a:ea typeface="+mj-ea"/>
                <a:cs typeface="Times New Roman" panose="02020603050405020304" pitchFamily="18" charset="0"/>
              </a:rPr>
              <a:t>диаграмма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78" y="0"/>
            <a:ext cx="1441622" cy="68520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56000" y="278283"/>
            <a:ext cx="609437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900" b="1" dirty="0">
                <a:solidFill>
                  <a:schemeClr val="accent1">
                    <a:lumMod val="75000"/>
                  </a:schemeClr>
                </a:solidFill>
                <a:ea typeface="+mj-ea"/>
                <a:cs typeface="Times New Roman" panose="02020603050405020304" pitchFamily="18" charset="0"/>
              </a:rPr>
              <a:t>Тест-</a:t>
            </a:r>
            <a:r>
              <a:rPr lang="en-US" sz="2900" b="1" dirty="0">
                <a:solidFill>
                  <a:schemeClr val="accent1">
                    <a:lumMod val="75000"/>
                  </a:schemeClr>
                </a:solidFill>
                <a:ea typeface="+mj-ea"/>
                <a:cs typeface="Times New Roman" panose="02020603050405020304" pitchFamily="18" charset="0"/>
              </a:rPr>
              <a:t>case</a:t>
            </a:r>
            <a:endParaRPr lang="ru-RU" sz="2900" b="1" dirty="0">
              <a:solidFill>
                <a:schemeClr val="accent1">
                  <a:lumMod val="75000"/>
                </a:schemeClr>
              </a:solidFill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0052" y="956409"/>
          <a:ext cx="10781172" cy="4749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2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5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6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6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№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Название теста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Предпосылки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Шаги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Ожидаемый результат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Статус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FinU001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Регистрация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Приложение запущено, открыто окно входа LoginWindow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Нажать на "Нет аккаунта? Зарегистрироваться«, в поле "Имя пользователя" ввести имя, в поле "Пароль" ввести значение, 4 В поле "Подтверждение пароля" ввести то же самое, нажать  "Зарегистрироваться"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регистрации закрывается, пользователь возвращается к окну входа. В базе данных появляется новая запись 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FinU002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Авторизация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Приложение запущено, открыто окно входа LoginWindow, пользователь зарегистрирован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Имя пользователя: "testuser2024"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Пароль: "qwerty123""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Окно входа закрывается, открывается главное окно MainWindow. 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78" y="0"/>
            <a:ext cx="1441622" cy="68520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41194" y="0"/>
            <a:ext cx="609437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9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Тест-</a:t>
            </a:r>
            <a:r>
              <a:rPr lang="en-US" sz="29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case</a:t>
            </a:r>
            <a:endParaRPr lang="ru-RU" sz="29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35666" y="538609"/>
          <a:ext cx="10599906" cy="61059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8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8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62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06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30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6686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№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Название теста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Предпосылки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Шаги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Ожидаемый результат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Статус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FinU003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Удаление транзакции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Пользователь авторизован, в разделе "Операции" присутствует хотя бы одна транзакция в таблице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В таблице транзакций кликнуть по строке, нажать кнопку "Удалить", расположенную под таблицей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Диалоговое окно подтверждения закрывается. Выбранная транзакция исчезает из таблицы. 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Fail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FinU004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Отображение статистики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Пользователь авторизован, в системе имеются транзакции за разные даты, активен раздел "Статистика"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На панели выбора периода установить дату начала, установить дату окончания, автоматического обновления статистики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В карточках отображаются корректные суммы. Круговая диаграмма показывает распределение расходов по категориям. 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Fail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FinU005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Добавление новой категории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Пользователь авторизован, открыто главное окно MainWindow, активен раздел "Категории"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В правой части раздела в поле "Название категории" ввести название и в выпадающем списке "Тип" расх, нажать кнопку "Добавить"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400" b="0" dirty="0">
                          <a:effectLst/>
                          <a:latin typeface="quote-cjk-patch"/>
                        </a:rPr>
                        <a:t>Новая категория появляется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400" b="0" dirty="0">
                          <a:effectLst/>
                          <a:latin typeface="quote-cjk-patch"/>
                        </a:rPr>
                        <a:t>Fail</a:t>
                      </a: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78" y="0"/>
            <a:ext cx="1441622" cy="68520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56000" y="104172"/>
            <a:ext cx="609437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900" b="1" dirty="0">
                <a:solidFill>
                  <a:schemeClr val="accent1">
                    <a:lumMod val="75000"/>
                  </a:schemeClr>
                </a:solidFill>
                <a:ea typeface="+mj-ea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6218" y="833006"/>
            <a:ext cx="10833903" cy="518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ru-RU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курсовой работы разработана информационная система "ФинУчет" для учета личных финансов.</a:t>
            </a:r>
          </a:p>
          <a:p>
            <a:pPr algn="just">
              <a:spcBef>
                <a:spcPts val="1200"/>
              </a:spcBef>
              <a:buNone/>
            </a:pPr>
            <a:r>
              <a:rPr lang="ru-RU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сделано:</a:t>
            </a:r>
          </a:p>
          <a:p>
            <a:pPr algn="just">
              <a:spcBef>
                <a:spcPts val="1200"/>
              </a:spcBef>
            </a:pPr>
            <a:r>
              <a:rPr lang="en-US" sz="2200" kern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архитектура клиент-сервер (WPF + FastAPI + PostgreSQL)</a:t>
            </a:r>
          </a:p>
          <a:p>
            <a:pPr algn="just">
              <a:spcBef>
                <a:spcPts val="450"/>
              </a:spcBef>
            </a:pPr>
            <a:r>
              <a:rPr lang="en-US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 авторизация и регистрация с контрольным вопросом для восстановления пароля</a:t>
            </a:r>
            <a:endParaRPr lang="en-US" sz="2200" kern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50"/>
              </a:spcBef>
            </a:pPr>
            <a:r>
              <a:rPr lang="en-US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ru-RU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 управление транзакциями (доходы/расходы), категориями, инвестициями</a:t>
            </a:r>
            <a:endParaRPr lang="en-US" sz="2200" i="0" kern="7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50"/>
              </a:spcBef>
            </a:pPr>
            <a:r>
              <a:rPr lang="en-US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ru-RU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 статистика с графиками и экспортом в CSV/Excel</a:t>
            </a:r>
            <a:endParaRPr lang="en-US" sz="2200" kern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450"/>
              </a:spcBef>
            </a:pPr>
            <a:r>
              <a:rPr lang="en-US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ru-RU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 административная панель: блокировка/разблокировка пользователей, смена пароля, удаление аккаунтов</a:t>
            </a:r>
          </a:p>
          <a:p>
            <a:pPr algn="just">
              <a:spcBef>
                <a:spcPts val="450"/>
              </a:spcBef>
            </a:pPr>
            <a:r>
              <a:rPr lang="en-US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ru-RU" sz="2200" i="0" kern="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Добавлены дополнительные функции: конвертер валют, калькулятор накоплений, смена темы, инструкция, финансовый чек-лист</a:t>
            </a:r>
          </a:p>
          <a:p>
            <a:pPr algn="just">
              <a:spcBef>
                <a:spcPts val="450"/>
              </a:spcBef>
            </a:pPr>
            <a:r>
              <a:rPr lang="ru-RU" sz="2200" kern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тесты прошли тестирование и получили статус «Неуспешно».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575</Words>
  <Application>Microsoft Office PowerPoint</Application>
  <PresentationFormat>Widescreen</PresentationFormat>
  <Paragraphs>98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quote-cjk-patch</vt:lpstr>
      <vt:lpstr>Times New Roman</vt:lpstr>
      <vt:lpstr>Тема Office</vt:lpstr>
      <vt:lpstr>PowerPoint Presentation</vt:lpstr>
      <vt:lpstr>PowerPoint Presentation</vt:lpstr>
      <vt:lpstr>PowerPoint Presentation</vt:lpstr>
      <vt:lpstr>PowerPoint Presentation</vt:lpstr>
      <vt:lpstr>Взаимодействие клиент-сервер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Лисачёва Анжела Викторовна</dc:creator>
  <cp:lastModifiedBy>karina.ponomareva2007@mail.ru</cp:lastModifiedBy>
  <cp:revision>100</cp:revision>
  <dcterms:created xsi:type="dcterms:W3CDTF">2022-04-12T10:00:00Z</dcterms:created>
  <dcterms:modified xsi:type="dcterms:W3CDTF">2026-05-04T09:05:16Z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1049-12.1.0.25862</vt:lpwstr>
  </property>
  <property fmtid="{D5CDD505-2E9C-101B-9397-08002B2CF9AE}" pid="3" name="ICV">
    <vt:lpwstr>B686E74523D24B26AD88467568476E92_12</vt:lpwstr>
  </property>
</Properties>
</file>