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63" r:id="rId2"/>
    <p:sldId id="262" r:id="rId3"/>
    <p:sldId id="266" r:id="rId4"/>
    <p:sldId id="268" r:id="rId5"/>
    <p:sldId id="264" r:id="rId6"/>
    <p:sldId id="269" r:id="rId7"/>
    <p:sldId id="271" r:id="rId8"/>
    <p:sldId id="272" r:id="rId9"/>
    <p:sldId id="273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00CC"/>
    <a:srgbClr val="EB6E19"/>
    <a:srgbClr val="CC0099"/>
    <a:srgbClr val="009999"/>
    <a:srgbClr val="E6AF00"/>
    <a:srgbClr val="CC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82" d="100"/>
          <a:sy n="82" d="100"/>
        </p:scale>
        <p:origin x="672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7E6C0B-20AF-4B54-AD47-5C01CBBC4192}" type="datetimeFigureOut">
              <a:rPr lang="ru-RU" smtClean="0"/>
              <a:t>02.05.2026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7E7FB-0B57-4788-8E90-107B0B0C6E84}" type="slidenum">
              <a:rPr lang="ru-RU" smtClean="0"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88E59D-08E1-4415-9D8D-6F6BBF8CDA0F}" type="slidenum">
              <a:rPr lang="ru-RU" smtClean="0"/>
              <a:t>1</a:t>
            </a:fld>
            <a:endParaRPr lang="ru-RU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88E59D-08E1-4415-9D8D-6F6BBF8CDA0F}" type="slidenum">
              <a:rPr lang="ru-RU" smtClean="0"/>
              <a:t>2</a:t>
            </a:fld>
            <a:endParaRPr lang="ru-RU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88E59D-08E1-4415-9D8D-6F6BBF8CDA0F}" type="slidenum">
              <a:rPr lang="ru-RU" smtClean="0"/>
              <a:t>3</a:t>
            </a:fld>
            <a:endParaRPr lang="ru-RU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88E59D-08E1-4415-9D8D-6F6BBF8CDA0F}" type="slidenum">
              <a:rPr lang="ru-RU" smtClean="0"/>
              <a:t>4</a:t>
            </a:fld>
            <a:endParaRPr lang="ru-RU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88E59D-08E1-4415-9D8D-6F6BBF8CDA0F}" type="slidenum">
              <a:rPr lang="ru-RU" smtClean="0"/>
              <a:t>5</a:t>
            </a:fld>
            <a:endParaRPr lang="ru-RU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3020F-D5E0-48FD-B85A-4CC78F2B9551}" type="datetimeFigureOut">
              <a:rPr lang="ru-RU" smtClean="0"/>
              <a:t>02.05.2026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412C-FA25-4D73-96E4-2718F20E06B2}" type="slidenum">
              <a:rPr lang="ru-RU" smtClean="0"/>
              <a:t>‹#›</a:t>
            </a:fld>
            <a:endParaRPr lang="ru-RU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3020F-D5E0-48FD-B85A-4CC78F2B9551}" type="datetimeFigureOut">
              <a:rPr lang="ru-RU" smtClean="0"/>
              <a:t>02.05.2026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412C-FA25-4D73-96E4-2718F20E06B2}" type="slidenum">
              <a:rPr lang="ru-RU" smtClean="0"/>
              <a:t>‹#›</a:t>
            </a:fld>
            <a:endParaRPr lang="ru-RU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3020F-D5E0-48FD-B85A-4CC78F2B9551}" type="datetimeFigureOut">
              <a:rPr lang="ru-RU" smtClean="0"/>
              <a:t>02.05.2026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412C-FA25-4D73-96E4-2718F20E06B2}" type="slidenum">
              <a:rPr lang="ru-RU" smtClean="0"/>
              <a:t>‹#›</a:t>
            </a:fld>
            <a:endParaRPr lang="ru-RU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3020F-D5E0-48FD-B85A-4CC78F2B9551}" type="datetimeFigureOut">
              <a:rPr lang="ru-RU" smtClean="0"/>
              <a:t>02.05.2026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412C-FA25-4D73-96E4-2718F20E06B2}" type="slidenum">
              <a:rPr lang="ru-RU" smtClean="0"/>
              <a:t>‹#›</a:t>
            </a:fld>
            <a:endParaRPr lang="ru-RU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3020F-D5E0-48FD-B85A-4CC78F2B9551}" type="datetimeFigureOut">
              <a:rPr lang="ru-RU" smtClean="0"/>
              <a:t>02.05.2026</a:t>
            </a:fld>
            <a:endParaRPr lang="ru-RU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412C-FA25-4D73-96E4-2718F20E06B2}" type="slidenum">
              <a:rPr lang="ru-RU" smtClean="0"/>
              <a:t>‹#›</a:t>
            </a:fld>
            <a:endParaRPr lang="ru-RU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3020F-D5E0-48FD-B85A-4CC78F2B9551}" type="datetimeFigureOut">
              <a:rPr lang="ru-RU" smtClean="0"/>
              <a:t>02.05.2026</a:t>
            </a:fld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412C-FA25-4D73-96E4-2718F20E06B2}" type="slidenum">
              <a:rPr lang="ru-RU" smtClean="0"/>
              <a:t>‹#›</a:t>
            </a:fld>
            <a:endParaRPr lang="ru-RU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3020F-D5E0-48FD-B85A-4CC78F2B9551}" type="datetimeFigureOut">
              <a:rPr lang="ru-RU" smtClean="0"/>
              <a:t>02.05.2026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412C-FA25-4D73-96E4-2718F20E06B2}" type="slidenum">
              <a:rPr lang="ru-RU" smtClean="0"/>
              <a:t>‹#›</a:t>
            </a:fld>
            <a:endParaRPr lang="ru-RU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3020F-D5E0-48FD-B85A-4CC78F2B9551}" type="datetimeFigureOut">
              <a:rPr lang="ru-RU" smtClean="0"/>
              <a:t>02.05.2026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412C-FA25-4D73-96E4-2718F20E06B2}" type="slidenum">
              <a:rPr lang="ru-RU" smtClean="0"/>
              <a:t>‹#›</a:t>
            </a:fld>
            <a:endParaRPr lang="ru-RU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3020F-D5E0-48FD-B85A-4CC78F2B9551}" type="datetimeFigureOut">
              <a:rPr lang="ru-RU" smtClean="0"/>
              <a:t>02.05.2026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412C-FA25-4D73-96E4-2718F20E06B2}" type="slidenum">
              <a:rPr lang="ru-RU" smtClean="0"/>
              <a:t>‹#›</a:t>
            </a:fld>
            <a:endParaRPr lang="ru-RU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3020F-D5E0-48FD-B85A-4CC78F2B9551}" type="datetimeFigureOut">
              <a:rPr lang="ru-RU" smtClean="0"/>
              <a:t>02.05.2026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412C-FA25-4D73-96E4-2718F20E06B2}" type="slidenum">
              <a:rPr lang="ru-RU" smtClean="0"/>
              <a:t>‹#›</a:t>
            </a:fld>
            <a:endParaRPr lang="ru-RU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3020F-D5E0-48FD-B85A-4CC78F2B9551}" type="datetimeFigureOut">
              <a:rPr lang="ru-RU" smtClean="0"/>
              <a:t>02.05.2026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412C-FA25-4D73-96E4-2718F20E06B2}" type="slidenum">
              <a:rPr lang="ru-RU" smtClean="0"/>
              <a:t>‹#›</a:t>
            </a:fld>
            <a:endParaRPr lang="ru-RU" dirty="0"/>
          </a:p>
        </p:txBody>
      </p:sp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73020F-D5E0-48FD-B85A-4CC78F2B9551}" type="datetimeFigureOut">
              <a:rPr lang="ru-RU" smtClean="0"/>
              <a:t>02.05.2026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6F412C-FA25-4D73-96E4-2718F20E06B2}" type="slidenum">
              <a:rPr lang="ru-RU" smtClean="0"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push dir="u"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378" y="0"/>
            <a:ext cx="1441622" cy="6852049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547" y="465586"/>
            <a:ext cx="655386" cy="661186"/>
          </a:xfrm>
          <a:prstGeom prst="rect">
            <a:avLst/>
          </a:prstGeom>
        </p:spPr>
      </p:pic>
      <p:sp>
        <p:nvSpPr>
          <p:cNvPr id="4" name="Rectangle 6"/>
          <p:cNvSpPr txBox="1"/>
          <p:nvPr/>
        </p:nvSpPr>
        <p:spPr bwMode="auto">
          <a:xfrm>
            <a:off x="1684422" y="426723"/>
            <a:ext cx="8953418" cy="700049"/>
          </a:xfrm>
          <a:prstGeom prst="rect">
            <a:avLst/>
          </a:prstGeom>
          <a:noFill/>
        </p:spPr>
        <p:txBody>
          <a:bodyPr vert="horz" wrap="square" lIns="91440" tIns="45720" rIns="91440" bIns="45720" numCol="1" rtlCol="0" anchor="b" anchorCtr="0" compatLnSpc="1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400" b="1" dirty="0">
                <a:solidFill>
                  <a:schemeClr val="accent1">
                    <a:lumMod val="75000"/>
                  </a:schemeClr>
                </a:solidFill>
                <a:latin typeface="+mn-lt"/>
              </a:rPr>
              <a:t>ГБПОУ «Челябинский энергетический колледж им. С.М. Кирова»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1043584" y="2572767"/>
            <a:ext cx="9834987" cy="17389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ru-RU" sz="2800" b="1" dirty="0">
                <a:solidFill>
                  <a:schemeClr val="accent1">
                    <a:lumMod val="75000"/>
                  </a:schemeClr>
                </a:solidFill>
              </a:rPr>
              <a:t>Курсовой проект</a:t>
            </a:r>
          </a:p>
          <a:p>
            <a:pPr algn="ctr"/>
            <a:r>
              <a:rPr lang="ru-RU" sz="3600" b="1" dirty="0">
                <a:solidFill>
                  <a:schemeClr val="accent1">
                    <a:lumMod val="75000"/>
                  </a:schemeClr>
                </a:solidFill>
              </a:rPr>
              <a:t>Разработка приложения для учета финансов</a:t>
            </a:r>
            <a:endParaRPr lang="ru-RU" sz="3600" dirty="0">
              <a:solidFill>
                <a:schemeClr val="accent1">
                  <a:lumMod val="75000"/>
                </a:schemeClr>
              </a:solidFill>
            </a:endParaRPr>
          </a:p>
          <a:p>
            <a:pPr algn="ctr"/>
            <a:endParaRPr lang="ru-RU" sz="3500" b="1" dirty="0">
              <a:solidFill>
                <a:srgbClr val="0070C0"/>
              </a:solidFill>
              <a:ea typeface="+mj-ea"/>
              <a:cs typeface="+mj-cs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6239484" y="4865702"/>
            <a:ext cx="7067550" cy="12622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ru-RU" b="1" dirty="0"/>
          </a:p>
          <a:p>
            <a:pPr marL="18415" algn="just">
              <a:lnSpc>
                <a:spcPct val="107000"/>
              </a:lnSpc>
              <a:spcAft>
                <a:spcPts val="800"/>
              </a:spcAft>
            </a:pPr>
            <a:r>
              <a:rPr lang="ru-RU" sz="2400" dirty="0">
                <a:solidFill>
                  <a:srgbClr val="00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Разработал: Пономарева К.А</a:t>
            </a:r>
          </a:p>
          <a:p>
            <a:pPr marL="18415" algn="just">
              <a:lnSpc>
                <a:spcPct val="107000"/>
              </a:lnSpc>
              <a:spcAft>
                <a:spcPts val="800"/>
              </a:spcAft>
            </a:pPr>
            <a:r>
              <a:rPr lang="ru-RU" sz="24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Руководитель: </a:t>
            </a:r>
            <a:r>
              <a:rPr lang="ru-RU" sz="2400" dirty="0">
                <a:ea typeface="Calibri" panose="020F0502020204030204" pitchFamily="34" charset="0"/>
                <a:cs typeface="Times New Roman" panose="02020603050405020304" pitchFamily="18" charset="0"/>
              </a:rPr>
              <a:t>Моторина М.В</a:t>
            </a:r>
            <a:endParaRPr lang="ru-RU" sz="24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378" y="0"/>
            <a:ext cx="1441622" cy="6852049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372451" y="609868"/>
            <a:ext cx="10070148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200" b="1" dirty="0"/>
              <a:t>Цель курсового проекта </a:t>
            </a:r>
            <a:r>
              <a:rPr lang="ru-RU" sz="2200" dirty="0"/>
              <a:t>- разработка </a:t>
            </a:r>
            <a:r>
              <a:rPr lang="ru-RU" sz="2400" dirty="0"/>
              <a:t>функциональное приложение для учёта финансов с понятным инструментарием для отслеживания доходов и расходов.</a:t>
            </a:r>
          </a:p>
          <a:p>
            <a:endParaRPr lang="ru-RU" sz="2400" dirty="0"/>
          </a:p>
          <a:p>
            <a:r>
              <a:rPr lang="ru-RU" sz="2200" b="1" dirty="0"/>
              <a:t>Задачи:</a:t>
            </a:r>
          </a:p>
          <a:p>
            <a:pPr marL="342900" lvl="0" indent="-342900">
              <a:buFont typeface="Calibri" panose="020F0502020204030204" pitchFamily="34" charset="0"/>
              <a:buChar char="−"/>
            </a:pPr>
            <a:r>
              <a:rPr lang="ru-RU" sz="2200" dirty="0"/>
              <a:t>проанализировать теоретические основы и существующие подходы к учёту финансов</a:t>
            </a:r>
            <a:r>
              <a:rPr lang="en-US" sz="2200" dirty="0"/>
              <a:t>;</a:t>
            </a:r>
            <a:endParaRPr lang="ru-RU" sz="2200" dirty="0"/>
          </a:p>
          <a:p>
            <a:pPr marL="342900" lvl="0" indent="-342900">
              <a:buFont typeface="Calibri" panose="020F0502020204030204" pitchFamily="34" charset="0"/>
              <a:buChar char="−"/>
            </a:pPr>
            <a:r>
              <a:rPr lang="ru-RU" sz="2200" dirty="0"/>
              <a:t>провести сравнительный анализ аналогов и сформулировать требования к приложению</a:t>
            </a:r>
            <a:r>
              <a:rPr lang="en-US" sz="2200" dirty="0"/>
              <a:t>;</a:t>
            </a:r>
            <a:endParaRPr lang="ru-RU" sz="2200" dirty="0"/>
          </a:p>
          <a:p>
            <a:pPr marL="342900" lvl="0" indent="-342900">
              <a:buFont typeface="Calibri" panose="020F0502020204030204" pitchFamily="34" charset="0"/>
              <a:buChar char="−"/>
            </a:pPr>
            <a:r>
              <a:rPr lang="ru-RU" sz="2200" dirty="0"/>
              <a:t>спроектировать базу данных;</a:t>
            </a:r>
          </a:p>
          <a:p>
            <a:pPr marL="342900" lvl="0" indent="-342900">
              <a:buFont typeface="Calibri" panose="020F0502020204030204" pitchFamily="34" charset="0"/>
              <a:buChar char="−"/>
            </a:pPr>
            <a:r>
              <a:rPr lang="ru-RU" sz="2200" dirty="0"/>
              <a:t>разработать удобный пользовательский интерфейс;</a:t>
            </a:r>
          </a:p>
          <a:p>
            <a:pPr marL="342900" lvl="0" indent="-342900">
              <a:buFont typeface="Calibri" panose="020F0502020204030204" pitchFamily="34" charset="0"/>
              <a:buChar char="−"/>
            </a:pPr>
            <a:r>
              <a:rPr lang="ru-RU" sz="2200" dirty="0"/>
              <a:t>создать подсистему визуализации (графики, диаграммы);</a:t>
            </a:r>
          </a:p>
          <a:p>
            <a:pPr marL="342900" lvl="0" indent="-342900">
              <a:buFont typeface="Calibri" panose="020F0502020204030204" pitchFamily="34" charset="0"/>
              <a:buChar char="−"/>
            </a:pPr>
            <a:r>
              <a:rPr lang="ru-RU" sz="2200" dirty="0"/>
              <a:t>выполнить тестирование приложения.</a:t>
            </a:r>
            <a:br>
              <a:rPr lang="ru-RU" sz="2400" dirty="0"/>
            </a:br>
            <a:endParaRPr lang="ru-RU" sz="2200" dirty="0"/>
          </a:p>
          <a:p>
            <a:pPr marL="342900" lvl="0" indent="-342900">
              <a:buFont typeface="Calibri" panose="020F0502020204030204" pitchFamily="34" charset="0"/>
              <a:buChar char="−"/>
            </a:pPr>
            <a:endParaRPr lang="ru-RU" sz="2200" dirty="0"/>
          </a:p>
          <a:p>
            <a:pPr marL="342900" lvl="0" indent="-342900">
              <a:buFont typeface="Calibri" panose="020F0502020204030204" pitchFamily="34" charset="0"/>
              <a:buChar char="−"/>
            </a:pPr>
            <a:endParaRPr lang="ru-RU" sz="2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378" y="0"/>
            <a:ext cx="1441622" cy="68520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048811" y="430028"/>
            <a:ext cx="6094378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900" b="1" dirty="0">
                <a:solidFill>
                  <a:schemeClr val="accent5"/>
                </a:solidFill>
                <a:ea typeface="+mj-ea"/>
                <a:cs typeface="Times New Roman" panose="02020603050405020304" pitchFamily="18" charset="0"/>
              </a:rPr>
              <a:t>Выбор средств разработки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200" y="1134363"/>
            <a:ext cx="6094378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9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Клиентская часть: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378" y="4606485"/>
            <a:ext cx="9864000" cy="1431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90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Все технологии с открытым кодом и бесплатны</a:t>
            </a:r>
            <a:endParaRPr lang="en-US" sz="29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ru-RU" sz="290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Хорошо подходят для настольного приложения под </a:t>
            </a:r>
            <a:r>
              <a:rPr lang="en-US" sz="290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Windows</a:t>
            </a:r>
          </a:p>
          <a:p>
            <a:r>
              <a:rPr lang="ru-RU" sz="290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Быстрая разработка и простота поддержки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7827" y="1134363"/>
            <a:ext cx="6094378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9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Клиентская часть: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2115769"/>
            <a:ext cx="6094378" cy="1431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90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Язык – </a:t>
            </a:r>
            <a:r>
              <a:rPr lang="en-US" sz="290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Python</a:t>
            </a:r>
          </a:p>
          <a:p>
            <a:r>
              <a:rPr lang="ru-RU" sz="290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Фреймворк – </a:t>
            </a:r>
            <a:r>
              <a:rPr lang="en-US" sz="2900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FastAPI</a:t>
            </a:r>
            <a:endParaRPr lang="en-US" sz="29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ru-RU" sz="290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База данных - </a:t>
            </a:r>
            <a:r>
              <a:rPr lang="en-US" sz="2900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PostgreSql</a:t>
            </a:r>
            <a:endParaRPr lang="ru-RU" sz="29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51600" y="2051962"/>
            <a:ext cx="6094378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90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Язык – </a:t>
            </a:r>
            <a:r>
              <a:rPr lang="en-US" sz="290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C#</a:t>
            </a:r>
          </a:p>
          <a:p>
            <a:r>
              <a:rPr lang="ru-RU" sz="290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Платформа - </a:t>
            </a:r>
            <a:r>
              <a:rPr lang="en-US" sz="290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.NET</a:t>
            </a:r>
          </a:p>
          <a:p>
            <a:r>
              <a:rPr lang="ru-RU" sz="290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Интерфейс – </a:t>
            </a:r>
            <a:r>
              <a:rPr lang="en-US" sz="290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WPF</a:t>
            </a:r>
          </a:p>
          <a:p>
            <a:r>
              <a:rPr lang="ru-RU" sz="290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Паттерн - </a:t>
            </a:r>
            <a:r>
              <a:rPr lang="en-US" sz="290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MVVM</a:t>
            </a:r>
            <a:endParaRPr lang="ru-RU" sz="29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cxnSp>
        <p:nvCxnSpPr>
          <p:cNvPr id="21" name="Прямая соединительная линия 20"/>
          <p:cNvCxnSpPr/>
          <p:nvPr/>
        </p:nvCxnSpPr>
        <p:spPr>
          <a:xfrm>
            <a:off x="387178" y="4308389"/>
            <a:ext cx="1025610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378" y="0"/>
            <a:ext cx="1441622" cy="68520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713608" y="231629"/>
            <a:ext cx="6094378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900" b="1" dirty="0">
                <a:solidFill>
                  <a:schemeClr val="accent1">
                    <a:lumMod val="75000"/>
                  </a:schemeClr>
                </a:solidFill>
                <a:ea typeface="+mj-ea"/>
                <a:cs typeface="Times New Roman" panose="02020603050405020304" pitchFamily="18" charset="0"/>
              </a:rPr>
              <a:t>Диаграмма прецедентов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273" y="1392709"/>
            <a:ext cx="10995970" cy="40725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378" y="0"/>
            <a:ext cx="1441622" cy="6852049"/>
          </a:xfrm>
          <a:prstGeom prst="rect">
            <a:avLst/>
          </a:prstGeom>
        </p:spPr>
      </p:pic>
      <p:sp>
        <p:nvSpPr>
          <p:cNvPr id="3" name="Заголовок 2"/>
          <p:cNvSpPr>
            <a:spLocks noGrp="1"/>
          </p:cNvSpPr>
          <p:nvPr>
            <p:ph type="ctrTitle"/>
          </p:nvPr>
        </p:nvSpPr>
        <p:spPr>
          <a:xfrm>
            <a:off x="1137999" y="249628"/>
            <a:ext cx="9144000" cy="572210"/>
          </a:xfrm>
        </p:spPr>
        <p:txBody>
          <a:bodyPr>
            <a:normAutofit/>
          </a:bodyPr>
          <a:lstStyle/>
          <a:p>
            <a:r>
              <a:rPr lang="ru-RU" sz="3200" b="1" dirty="0">
                <a:solidFill>
                  <a:schemeClr val="accent5"/>
                </a:solidFill>
                <a:latin typeface="+mn-lt"/>
              </a:rPr>
              <a:t>Взаимодейтсвие клиент-сервер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D3DB0FF-6983-6821-BCB3-1D174ED47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28" y="1032803"/>
            <a:ext cx="5344271" cy="527758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325B444-11A5-D414-265A-DB122C3CA3CD}"/>
              </a:ext>
            </a:extLst>
          </p:cNvPr>
          <p:cNvSpPr/>
          <p:nvPr/>
        </p:nvSpPr>
        <p:spPr>
          <a:xfrm>
            <a:off x="6178378" y="1032803"/>
            <a:ext cx="1871602" cy="43088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22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Как работает?</a:t>
            </a:r>
            <a:endParaRPr lang="en-US" sz="2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87C83C-BFAB-30BC-6FA1-53DEFD479E0D}"/>
              </a:ext>
            </a:extLst>
          </p:cNvPr>
          <p:cNvSpPr txBox="1"/>
          <p:nvPr/>
        </p:nvSpPr>
        <p:spPr>
          <a:xfrm>
            <a:off x="6096000" y="1726163"/>
            <a:ext cx="526868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Клиент: Отправляет запросы, показывает данные                                                                    пользователю</a:t>
            </a:r>
          </a:p>
          <a:p>
            <a:br>
              <a:rPr lang="ru-RU" dirty="0"/>
            </a:br>
            <a:r>
              <a:rPr lang="ru-RU" dirty="0"/>
              <a:t>Сервер: Хранит данные в БД, проверяет права,                    отвечает на запросы</a:t>
            </a:r>
          </a:p>
          <a:p>
            <a:endParaRPr lang="ru-RU" dirty="0"/>
          </a:p>
          <a:p>
            <a:r>
              <a:rPr lang="en-US" dirty="0"/>
              <a:t>JSON</a:t>
            </a:r>
            <a:r>
              <a:rPr lang="ru-RU" dirty="0"/>
              <a:t>: Формат передачи данных </a:t>
            </a:r>
          </a:p>
          <a:p>
            <a:endParaRPr lang="ru-RU" dirty="0"/>
          </a:p>
          <a:p>
            <a:r>
              <a:rPr lang="ru-RU" dirty="0"/>
              <a:t>Токен: "Пропуск" — сервер выдает его после      входа, клиент показывает при каждом запросе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378" y="0"/>
            <a:ext cx="1441622" cy="685204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912" y="838395"/>
            <a:ext cx="9794407" cy="58015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57420" y="119662"/>
            <a:ext cx="6094378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900" b="1" dirty="0">
                <a:solidFill>
                  <a:schemeClr val="accent1">
                    <a:lumMod val="75000"/>
                  </a:schemeClr>
                </a:solidFill>
                <a:ea typeface="+mj-ea"/>
                <a:cs typeface="Times New Roman" panose="02020603050405020304" pitchFamily="18" charset="0"/>
              </a:rPr>
              <a:t>ER-</a:t>
            </a:r>
            <a:r>
              <a:rPr lang="ru-RU" sz="2900" b="1" dirty="0">
                <a:solidFill>
                  <a:schemeClr val="accent1">
                    <a:lumMod val="75000"/>
                  </a:schemeClr>
                </a:solidFill>
                <a:ea typeface="+mj-ea"/>
                <a:cs typeface="Times New Roman" panose="02020603050405020304" pitchFamily="18" charset="0"/>
              </a:rPr>
              <a:t>диаграмма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378" y="0"/>
            <a:ext cx="1441622" cy="68520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656000" y="278283"/>
            <a:ext cx="6094378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900" b="1" dirty="0">
                <a:solidFill>
                  <a:schemeClr val="accent1">
                    <a:lumMod val="75000"/>
                  </a:schemeClr>
                </a:solidFill>
                <a:ea typeface="+mj-ea"/>
                <a:cs typeface="Times New Roman" panose="02020603050405020304" pitchFamily="18" charset="0"/>
              </a:rPr>
              <a:t>Тест-</a:t>
            </a:r>
            <a:r>
              <a:rPr lang="en-US" sz="2900" b="1" dirty="0">
                <a:solidFill>
                  <a:schemeClr val="accent1">
                    <a:lumMod val="75000"/>
                  </a:schemeClr>
                </a:solidFill>
                <a:ea typeface="+mj-ea"/>
                <a:cs typeface="Times New Roman" panose="02020603050405020304" pitchFamily="18" charset="0"/>
              </a:rPr>
              <a:t>case</a:t>
            </a:r>
            <a:endParaRPr lang="ru-RU" sz="2900" b="1" dirty="0">
              <a:solidFill>
                <a:schemeClr val="accent1">
                  <a:lumMod val="75000"/>
                </a:schemeClr>
              </a:solidFill>
              <a:ea typeface="+mj-ea"/>
              <a:cs typeface="Times New Roman" panose="02020603050405020304" pitchFamily="18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0052" y="956409"/>
          <a:ext cx="10781172" cy="4749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5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81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722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755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968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968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quote-cjk-patch"/>
                        </a:rPr>
                        <a:t>№</a:t>
                      </a: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quote-cjk-patch"/>
                        </a:rPr>
                        <a:t>Название теста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quote-cjk-patch"/>
                        </a:rPr>
                        <a:t>Предпосылки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quote-cjk-patch"/>
                        </a:rPr>
                        <a:t>Шаги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quote-cjk-patch"/>
                        </a:rPr>
                        <a:t>Ожидаемый результат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quote-cjk-patch"/>
                        </a:rPr>
                        <a:t>Статус</a:t>
                      </a:r>
                    </a:p>
                  </a:txBody>
                  <a:tcPr marL="121920" marR="121920" marT="76200" marB="762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4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FinU001</a:t>
                      </a: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Регистрация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Приложение запущено, открыто окно входа LoginWindow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Нажать на "Нет аккаунта? Зарегистрироваться«, в поле "Имя пользователя" ввести имя, в поле "Пароль" ввести значение, 4 В поле "Подтверждение пароля" ввести то же самое, нажать  "Зарегистрироваться"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Окно регистрации закрывается, пользователь возвращается к окну входа. В базе данных появляется новая запись 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4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Fail</a:t>
                      </a: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9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4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FinU002</a:t>
                      </a: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Авторизация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Приложение запущено, открыто окно входа LoginWindow, пользователь зарегистрирован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Имя пользователя: "testuser2024"</a:t>
                      </a:r>
                    </a:p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Пароль: "qwerty123""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Окно входа закрывается, открывается главное окно MainWindow. 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4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Fail</a:t>
                      </a: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378" y="0"/>
            <a:ext cx="1441622" cy="68520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41194" y="0"/>
            <a:ext cx="6094378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9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Тест-</a:t>
            </a:r>
            <a:r>
              <a:rPr lang="en-US" sz="29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case</a:t>
            </a:r>
            <a:endParaRPr lang="ru-RU" sz="29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35666" y="538609"/>
          <a:ext cx="10599906" cy="6105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8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30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780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862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9061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2309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6686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quote-cjk-patch"/>
                        </a:rPr>
                        <a:t>№</a:t>
                      </a: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quote-cjk-patch"/>
                        </a:rPr>
                        <a:t>Название теста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quote-cjk-patch"/>
                        </a:rPr>
                        <a:t>Предпосылки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quote-cjk-patch"/>
                        </a:rPr>
                        <a:t>Шаги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quote-cjk-patch"/>
                        </a:rPr>
                        <a:t>Ожидаемый результат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quote-cjk-patch"/>
                        </a:rPr>
                        <a:t>Статус</a:t>
                      </a:r>
                    </a:p>
                  </a:txBody>
                  <a:tcPr marL="121920" marR="121920" marT="76200" marB="762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400" b="0" dirty="0">
                          <a:effectLst/>
                          <a:latin typeface="quote-cjk-patch"/>
                        </a:rPr>
                        <a:t>FinU003</a:t>
                      </a: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quote-cjk-patch"/>
                        </a:rPr>
                        <a:t>Удаление транзакции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quote-cjk-patch"/>
                        </a:rPr>
                        <a:t>Пользователь авторизован, в разделе "Операции" присутствует хотя бы одна транзакция в таблице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quote-cjk-patch"/>
                        </a:rPr>
                        <a:t>В таблице транзакций кликнуть по строке, нажать кнопку "Удалить", расположенную под таблицей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quote-cjk-patch"/>
                        </a:rPr>
                        <a:t>Диалоговое окно подтверждения закрывается. Выбранная транзакция исчезает из таблицы. 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400" b="0" dirty="0">
                          <a:effectLst/>
                          <a:latin typeface="quote-cjk-patch"/>
                        </a:rPr>
                        <a:t>Fail</a:t>
                      </a: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1400" b="0" dirty="0">
                          <a:effectLst/>
                          <a:latin typeface="quote-cjk-patch"/>
                        </a:rPr>
                        <a:t>FinU004</a:t>
                      </a: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quote-cjk-patch"/>
                        </a:rPr>
                        <a:t>Отображение статистики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quote-cjk-patch"/>
                        </a:rPr>
                        <a:t>Пользователь авторизован, в системе имеются транзакции за разные даты, активен раздел "Статистика"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quote-cjk-patch"/>
                        </a:rPr>
                        <a:t>На панели выбора периода установить дату начала, установить дату окончания, автоматического обновления статистики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quote-cjk-patch"/>
                        </a:rPr>
                        <a:t>В карточках отображаются корректные суммы. Круговая диаграмма показывает распределение расходов по категориям. 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1400" b="0" dirty="0">
                          <a:effectLst/>
                          <a:latin typeface="quote-cjk-patch"/>
                        </a:rPr>
                        <a:t>Fail</a:t>
                      </a: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1400" b="0" dirty="0">
                          <a:effectLst/>
                          <a:latin typeface="quote-cjk-patch"/>
                        </a:rPr>
                        <a:t>FinU005</a:t>
                      </a: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quote-cjk-patch"/>
                        </a:rPr>
                        <a:t>Добавление новой категории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quote-cjk-patch"/>
                        </a:rPr>
                        <a:t>Пользователь авторизован, открыто главное окно MainWindow, активен раздел "Категории"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quote-cjk-patch"/>
                        </a:rPr>
                        <a:t>В правой части раздела в поле "Название категории" ввести название и в выпадающем списке "Тип" расх, нажать кнопку "Добавить"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quote-cjk-patch"/>
                        </a:rPr>
                        <a:t>Новая категория появляется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1400" b="0" dirty="0">
                          <a:effectLst/>
                          <a:latin typeface="quote-cjk-patch"/>
                        </a:rPr>
                        <a:t>Fail</a:t>
                      </a: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378" y="0"/>
            <a:ext cx="1441622" cy="68520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656000" y="104172"/>
            <a:ext cx="6094378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900" b="1" dirty="0">
                <a:solidFill>
                  <a:schemeClr val="accent1">
                    <a:lumMod val="75000"/>
                  </a:schemeClr>
                </a:solidFill>
                <a:ea typeface="+mj-ea"/>
                <a:cs typeface="Times New Roman" panose="02020603050405020304" pitchFamily="18" charset="0"/>
              </a:rPr>
              <a:t>Заключение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6218" y="833006"/>
            <a:ext cx="10833903" cy="5186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Bef>
                <a:spcPts val="1200"/>
              </a:spcBef>
              <a:buNone/>
            </a:pPr>
            <a:r>
              <a:rPr lang="ru-RU" sz="2200" i="0" kern="7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 ходе выполнения курсовой работы разработана информационная система "ФинУчет" для учета личных финансов.</a:t>
            </a:r>
          </a:p>
          <a:p>
            <a:pPr algn="just">
              <a:spcBef>
                <a:spcPts val="1200"/>
              </a:spcBef>
              <a:buNone/>
            </a:pPr>
            <a:r>
              <a:rPr lang="ru-RU" sz="2200" i="0" kern="7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Что сделано:</a:t>
            </a:r>
          </a:p>
          <a:p>
            <a:pPr algn="just">
              <a:spcBef>
                <a:spcPts val="1200"/>
              </a:spcBef>
            </a:pPr>
            <a:r>
              <a:rPr lang="en-US" sz="2200" kern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</a:t>
            </a:r>
            <a:r>
              <a:rPr lang="ru-RU" sz="2200" i="0" kern="7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Разработана архитектура клиент-сервер (WPF + FastAPI + PostgreSQL)</a:t>
            </a:r>
          </a:p>
          <a:p>
            <a:pPr algn="just">
              <a:spcBef>
                <a:spcPts val="450"/>
              </a:spcBef>
            </a:pPr>
            <a:r>
              <a:rPr lang="en-US" sz="2200" i="0" kern="7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 </a:t>
            </a:r>
            <a:r>
              <a:rPr lang="ru-RU" sz="2200" i="0" kern="7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Реализована авторизация и регистрация с контрольным вопросом для восстановления пароля</a:t>
            </a:r>
            <a:endParaRPr lang="en-US" sz="2200" kern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spcBef>
                <a:spcPts val="450"/>
              </a:spcBef>
            </a:pPr>
            <a:r>
              <a:rPr lang="en-US" sz="2200" i="0" kern="7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 </a:t>
            </a:r>
            <a:r>
              <a:rPr lang="ru-RU" sz="2200" i="0" kern="7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Реализовано управление транзакциями (доходы/расходы), категориями, инвестициями</a:t>
            </a:r>
            <a:endParaRPr lang="en-US" sz="2200" i="0" kern="7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spcBef>
                <a:spcPts val="450"/>
              </a:spcBef>
            </a:pPr>
            <a:r>
              <a:rPr lang="en-US" sz="2200" i="0" kern="7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4 </a:t>
            </a:r>
            <a:r>
              <a:rPr lang="ru-RU" sz="2200" i="0" kern="7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Реализована статистика с графиками и экспортом в CSV/Excel</a:t>
            </a:r>
            <a:endParaRPr lang="en-US" sz="2200" kern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spcBef>
                <a:spcPts val="450"/>
              </a:spcBef>
            </a:pPr>
            <a:r>
              <a:rPr lang="en-US" sz="2200" i="0" kern="7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5 </a:t>
            </a:r>
            <a:r>
              <a:rPr lang="ru-RU" sz="2200" i="0" kern="7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Реализована административная панель: блокировка/разблокировка пользователей, смена пароля, удаление аккаунтов</a:t>
            </a:r>
          </a:p>
          <a:p>
            <a:pPr algn="just">
              <a:spcBef>
                <a:spcPts val="450"/>
              </a:spcBef>
            </a:pPr>
            <a:r>
              <a:rPr lang="en-US" sz="2200" i="0" kern="7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6 </a:t>
            </a:r>
            <a:r>
              <a:rPr lang="ru-RU" sz="2200" i="0" kern="7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Добавлены дополнительные функции: конвертер валют, калькулятор накоплений, смена темы, инструкция, финансовый чек-лист</a:t>
            </a:r>
          </a:p>
          <a:p>
            <a:pPr algn="just">
              <a:spcBef>
                <a:spcPts val="450"/>
              </a:spcBef>
            </a:pPr>
            <a:r>
              <a:rPr lang="ru-RU" sz="2200" kern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Все тесты прошли тестирование и получили статус «Неуспешно».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575</Words>
  <Application>Microsoft Office PowerPoint</Application>
  <PresentationFormat>Widescreen</PresentationFormat>
  <Paragraphs>98</Paragraphs>
  <Slides>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quote-cjk-patch</vt:lpstr>
      <vt:lpstr>Times New Roman</vt:lpstr>
      <vt:lpstr>Тема Office</vt:lpstr>
      <vt:lpstr>PowerPoint Presentation</vt:lpstr>
      <vt:lpstr>PowerPoint Presentation</vt:lpstr>
      <vt:lpstr>PowerPoint Presentation</vt:lpstr>
      <vt:lpstr>PowerPoint Presentation</vt:lpstr>
      <vt:lpstr>Взаимодейтсвие клиент-сервер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Лисачёва Анжела Викторовна</dc:creator>
  <cp:lastModifiedBy>karina.ponomareva2007@mail.ru</cp:lastModifiedBy>
  <cp:revision>99</cp:revision>
  <dcterms:created xsi:type="dcterms:W3CDTF">2022-04-12T10:00:00Z</dcterms:created>
  <dcterms:modified xsi:type="dcterms:W3CDTF">2026-05-02T14:34:14Z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1049-12.1.0.25862</vt:lpwstr>
  </property>
  <property fmtid="{D5CDD505-2E9C-101B-9397-08002B2CF9AE}" pid="3" name="ICV">
    <vt:lpwstr>B686E74523D24B26AD88467568476E92_12</vt:lpwstr>
  </property>
</Properties>
</file>